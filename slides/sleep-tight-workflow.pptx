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bd229b80545a5" /><Relationship Type="http://schemas.openxmlformats.org/officeDocument/2006/relationships/extended-properties" Target="/docProps/app.xml" Id="Rf30da54407eb4cab" /><Relationship Type="http://schemas.openxmlformats.org/officeDocument/2006/relationships/officeDocument" Target="/ppt/presentation.xml" Id="Rdbee59d2816848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57d70b388e4eff"/>
  </p:sldMasterIdLst>
  <p:notesMasterIdLst>
    <p:notesMasterId xmlns:r="http://schemas.openxmlformats.org/officeDocument/2006/relationships" r:id="Rde71cf8a8a3e4599"/>
  </p:notesMasterIdLst>
  <p:sldIdLst>
    <p:sldId xmlns:r="http://schemas.openxmlformats.org/officeDocument/2006/relationships" id="256" r:id="R06a6739a41e4425e"/>
    <p:sldId xmlns:r="http://schemas.openxmlformats.org/officeDocument/2006/relationships" id="257" r:id="R8bf0496e08f44ae4"/>
    <p:sldId xmlns:r="http://schemas.openxmlformats.org/officeDocument/2006/relationships" id="258" r:id="R6cda8cefb15a4f6f"/>
    <p:sldId xmlns:r="http://schemas.openxmlformats.org/officeDocument/2006/relationships" id="259" r:id="R776a581d0dc9432b"/>
    <p:sldId xmlns:r="http://schemas.openxmlformats.org/officeDocument/2006/relationships" id="260" r:id="R22b53c7072eb48e8"/>
    <p:sldId xmlns:r="http://schemas.openxmlformats.org/officeDocument/2006/relationships" id="261" r:id="R0ed185a7e28046c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6605273b84a7c" /><Relationship Type="http://schemas.openxmlformats.org/officeDocument/2006/relationships/slideMaster" Target="/ppt/slideMasters/slideMaster1.xml" Id="R8557d70b388e4eff" /><Relationship Type="http://schemas.openxmlformats.org/officeDocument/2006/relationships/notesMaster" Target="/ppt/notesMasters/notesMaster1.xml" Id="Rde71cf8a8a3e4599" /><Relationship Type="http://schemas.openxmlformats.org/officeDocument/2006/relationships/presProps" Target="/ppt/presProps.xml" Id="R3079458f90dd48f9" /><Relationship Type="http://schemas.openxmlformats.org/officeDocument/2006/relationships/tableStyles" Target="/ppt/tableStyles.xml" Id="R129bff6ffcd34999" /><Relationship Type="http://schemas.openxmlformats.org/officeDocument/2006/relationships/slide" Target="/ppt/slides/slide1.xml" Id="R06a6739a41e4425e" /><Relationship Type="http://schemas.openxmlformats.org/officeDocument/2006/relationships/slide" Target="/ppt/slides/slide2.xml" Id="R8bf0496e08f44ae4" /><Relationship Type="http://schemas.openxmlformats.org/officeDocument/2006/relationships/slide" Target="/ppt/slides/slide3.xml" Id="R6cda8cefb15a4f6f" /><Relationship Type="http://schemas.openxmlformats.org/officeDocument/2006/relationships/slide" Target="/ppt/slides/slide4.xml" Id="R776a581d0dc9432b" /><Relationship Type="http://schemas.openxmlformats.org/officeDocument/2006/relationships/slide" Target="/ppt/slides/slide5.xml" Id="R22b53c7072eb48e8" /><Relationship Type="http://schemas.openxmlformats.org/officeDocument/2006/relationships/slide" Target="/ppt/slides/slide6.xml" Id="R0ed185a7e28046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9830cbb7b743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1ccd33fcee4208" /><Relationship Type="http://schemas.openxmlformats.org/officeDocument/2006/relationships/notesMaster" Target="/ppt/notesMasters/notesMaster1.xml" Id="Rb28b753b95684d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e4d1819b944810" /><Relationship Type="http://schemas.openxmlformats.org/officeDocument/2006/relationships/notesMaster" Target="/ppt/notesMasters/notesMaster1.xml" Id="R09bcd02544ad44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a2e5a11e14eeb" /><Relationship Type="http://schemas.openxmlformats.org/officeDocument/2006/relationships/notesMaster" Target="/ppt/notesMasters/notesMaster1.xml" Id="R740eb76fbb2044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4d4f322cbe4bec" /><Relationship Type="http://schemas.openxmlformats.org/officeDocument/2006/relationships/notesMaster" Target="/ppt/notesMasters/notesMaster1.xml" Id="R692cd3a0e5af4f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adb6d59c9142e0" /><Relationship Type="http://schemas.openxmlformats.org/officeDocument/2006/relationships/notesMaster" Target="/ppt/notesMasters/notesMaster1.xml" Id="R186b0e52495f40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f1579e4e2b4470" /><Relationship Type="http://schemas.openxmlformats.org/officeDocument/2006/relationships/notesMaster" Target="/ppt/notesMasters/notesMaster1.xml" Id="R9c40a176704a44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b9cb8307041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396602c0f248a3" /><Relationship Type="http://schemas.openxmlformats.org/officeDocument/2006/relationships/slideLayout" Target="/ppt/slideLayouts/slideLayout1.xml" Id="R829f72e7d22942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9f72e7d22942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96286518b4051" /><Relationship Type="http://schemas.openxmlformats.org/officeDocument/2006/relationships/notesSlide" Target="/ppt/notesSlides/notesSlide1.xml" Id="Rab30b5d192e540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62d5e44ac4f81" /><Relationship Type="http://schemas.openxmlformats.org/officeDocument/2006/relationships/notesSlide" Target="/ppt/notesSlides/notesSlide2.xml" Id="R2e478e3de48043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8102c394e49bd" /><Relationship Type="http://schemas.openxmlformats.org/officeDocument/2006/relationships/notesSlide" Target="/ppt/notesSlides/notesSlide3.xml" Id="Re42cae6df9e5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9b7ff997e4730" /><Relationship Type="http://schemas.openxmlformats.org/officeDocument/2006/relationships/notesSlide" Target="/ppt/notesSlides/notesSlide4.xml" Id="R0e8ab0e6d23c44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0ad3f1f664732" /><Relationship Type="http://schemas.openxmlformats.org/officeDocument/2006/relationships/notesSlide" Target="/ppt/notesSlides/notesSlide5.xml" Id="R1daf063d34f64c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f79455b06463c" /><Relationship Type="http://schemas.openxmlformats.org/officeDocument/2006/relationships/notesSlide" Target="/ppt/notesSlides/notesSlide6.xml" Id="R336cce376f1f4f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DB205-0A63-481E-A273-71C66492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7FFF"/>
                </a:solidFill>
              </a:defRPr>
            </a:pPr>
            <a:r>
              <a:rPr sz="1200" b="1">
                <a:solidFill>
                  <a:srgbClr val="2B7FFF"/>
                </a:solidFill>
              </a:rPr>
              <a:t>SLEEP TIGHT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38AE8-884A-43F6-8579-3BD6D36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752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51515"/>
                </a:solidFill>
              </a:defRPr>
            </a:pPr>
            <a:r>
              <a:rPr sz="4350" b="1">
                <a:solidFill>
                  <a:srgbClr val="151515"/>
                </a:solidFill>
              </a:rPr>
              <a:t>A local bedtime workflow for personalized sleep.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164205-6B6B-48EF-BE31-CBB9EB1E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685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468"/>
                </a:solidFill>
              </a:defRPr>
            </a:pPr>
            <a:r>
              <a:rPr sz="1875" b="0">
                <a:solidFill>
                  <a:srgbClr val="5F6468"/>
                </a:solidFill>
              </a:rPr>
              <a:t>GPT-5.6 research moved the product toward pre-sleep personalization: phone vitals, a 10-minute watch capture, and a 10:05 p.m. Codex plan.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0E6BD-79F3-4A26-83B1-29CCE441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76300"/>
            <a:ext cx="28194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26103-F02F-4FA3-9A73-249677B9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57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7FFF"/>
                </a:solidFill>
              </a:defRPr>
            </a:pPr>
            <a:r>
              <a:rPr sz="3900" b="1">
                <a:solidFill>
                  <a:srgbClr val="2B7FFF"/>
                </a:solidFill>
              </a:rPr>
              <a:t>21:55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DEC6E-E68C-4198-A8D6-6FC8B71B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57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device handoff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29854-B421-4A6A-ACD0-D628D034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7FFF"/>
                </a:solidFill>
              </a:defRPr>
            </a:pPr>
            <a:r>
              <a:rPr sz="3900" b="1">
                <a:solidFill>
                  <a:srgbClr val="2B7FFF"/>
                </a:solidFill>
              </a:rPr>
              <a:t>22:05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72FDB-40F9-494A-AE3D-0ADED13F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813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Codex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46BDC-88F6-4D18-A20D-CF5B6E76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053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B7FFF"/>
                </a:solidFill>
              </a:defRPr>
            </a:pPr>
            <a:r>
              <a:rPr sz="3900" b="1">
                <a:solidFill>
                  <a:srgbClr val="2B7FFF"/>
                </a:solidFill>
              </a:rPr>
              <a:t>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DDBF8-7898-480D-A6D1-3C7E67C1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053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</a:defRPr>
            </a:pPr>
            <a:r>
              <a:rPr sz="1575" b="1">
                <a:solidFill>
                  <a:srgbClr val="151515"/>
                </a:solidFill>
              </a:rPr>
              <a:t>nights of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CD3CC5-BBF4-44D3-8C1B-8AA79C2B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8"/>
                </a:solidFill>
              </a:defRPr>
            </a:pPr>
            <a:r>
              <a:rPr sz="1050" b="0">
                <a:solidFill>
                  <a:srgbClr val="5F6468"/>
                </a:solidFill>
              </a:rPr>
              <a:t>Sleep Tight workflow | 1</a:t>
            </a:r>
          </a:p>
        </p:txBody>
      </p:sp>
    </p:spTree>
    <p:extLst>
      <p:ext uri="{BB962C8B-B14F-4D97-AF65-F5344CB8AC3E}">
        <p14:creationId xmlns:p14="http://schemas.microsoft.com/office/powerpoint/2010/main" val="1411379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EBF698-C87F-422F-B9C5-78212DFF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FFF"/>
                </a:solidFill>
              </a:defRPr>
            </a:pPr>
            <a:r>
              <a:rPr sz="1050" b="1">
                <a:solidFill>
                  <a:srgbClr val="2B7FFF"/>
                </a:solidFill>
              </a:rPr>
              <a:t>NIGHTLY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140E1-739C-4B4A-BA3D-A86B7A18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The system personalizes before sleep starts.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0795E-3BF1-4C54-9BBF-C053D5A2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468"/>
                </a:solidFill>
              </a:defRPr>
            </a:pPr>
            <a:r>
              <a:rPr sz="1725" b="0">
                <a:solidFill>
                  <a:srgbClr val="5F6468"/>
                </a:solidFill>
              </a:rPr>
              <a:t>It does not try to improvise during sleep from uncertain real-time sleep-stage guesses.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011C97-B08A-43AA-8D6B-4222226F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BB68E-5EAE-4913-8A4F-E6EE3965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9:55 p.m.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C63C9-F25D-45A6-BF76-9C2EEAB2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68"/>
                </a:solidFill>
              </a:defRPr>
            </a:pPr>
            <a:r>
              <a:rPr sz="1275" b="0">
                <a:solidFill>
                  <a:srgbClr val="5F6468"/>
                </a:solidFill>
              </a:rPr>
              <a:t>Phone exports the last 24 hours of Health Connect vitals.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78DD5-1106-4831-98E3-78603720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114800"/>
            <a:ext cx="43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7FFF"/>
                </a:solidFill>
              </a:defRPr>
            </a:pPr>
            <a:r>
              <a:rPr sz="2850" b="1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A4D4B-6C6A-4EFF-AFEC-E998D1A6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766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F1826-59BD-45A8-AAD7-78B8A15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48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9:55-10:05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3CD57-071E-4BEA-A03D-49C56637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29100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68"/>
                </a:solidFill>
              </a:defRPr>
            </a:pPr>
            <a:r>
              <a:rPr sz="1275" b="0">
                <a:solidFill>
                  <a:srgbClr val="5F6468"/>
                </a:solidFill>
              </a:rPr>
              <a:t>Galaxy Watch records calibrated heart rate for 10 minutes.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D2EC3-5724-426A-9971-8E5CCBC6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14800"/>
            <a:ext cx="43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7FFF"/>
                </a:solidFill>
              </a:defRPr>
            </a:pPr>
            <a:r>
              <a:rPr sz="2850" b="1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57DAEB-AB59-4D4E-AFD6-9A4DE2E7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766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8513DB-3616-4ED2-A97E-175C0CF7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48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7FFF"/>
                </a:solidFill>
              </a:defRPr>
            </a:pPr>
            <a:r>
              <a:rPr sz="1650" b="1">
                <a:solidFill>
                  <a:srgbClr val="2B7FFF"/>
                </a:solidFill>
              </a:rPr>
              <a:t>10:05 p.m.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0886A-AB79-438D-B116-9D353339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29100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68"/>
                </a:solidFill>
              </a:defRPr>
            </a:pPr>
            <a:r>
              <a:rPr sz="1275" b="0">
                <a:solidFill>
                  <a:srgbClr val="5F6468"/>
                </a:solidFill>
              </a:rPr>
              <a:t>Codex pulls the latest app data and analyzes sleep quality if records exist.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352B84-0EAC-48DF-B4F2-F805540F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14800"/>
            <a:ext cx="43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7FFF"/>
                </a:solidFill>
              </a:defRPr>
            </a:pPr>
            <a:r>
              <a:rPr sz="2850" b="1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E2515-327A-48A6-9B96-BE9CAE02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766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9366D-6C2D-49CB-AA09-E0F4C74C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48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After plan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4133DE-CF67-4EE3-AD22-9C48A954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68"/>
                </a:solidFill>
              </a:defRPr>
            </a:pPr>
            <a:r>
              <a:rPr sz="1275" b="0">
                <a:solidFill>
                  <a:srgbClr val="5F6468"/>
                </a:solidFill>
              </a:rPr>
              <a:t>Lamp dims and background sound fades toward lights out.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436372-1BDA-4B24-AD41-E416B840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43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7FFF"/>
                </a:solidFill>
              </a:defRPr>
            </a:pPr>
            <a:r>
              <a:rPr sz="2850" b="1">
                <a:solidFill>
                  <a:srgbClr val="2B7FFF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7BC6C-F7D1-4AF3-A472-E2562374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76650"/>
            <a:ext cx="1809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41B8E4-000D-4092-B0FE-0EBF3588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4810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1515"/>
                </a:solidFill>
              </a:defRPr>
            </a:pPr>
            <a:r>
              <a:rPr sz="1650" b="1">
                <a:solidFill>
                  <a:srgbClr val="151515"/>
                </a:solidFill>
              </a:rPr>
              <a:t>Monthly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CEB51-4A07-4250-8AAB-BF47ACCA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229100"/>
            <a:ext cx="1504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468"/>
                </a:solidFill>
              </a:defRPr>
            </a:pPr>
            <a:r>
              <a:rPr sz="1275" b="0">
                <a:solidFill>
                  <a:srgbClr val="5F6468"/>
                </a:solidFill>
              </a:rPr>
              <a:t>Logs summarize what Codex learnt over repeated nights.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736BD-AEF5-4076-955C-9B651E3C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8"/>
                </a:solidFill>
              </a:defRPr>
            </a:pPr>
            <a:r>
              <a:rPr sz="1050" b="0">
                <a:solidFill>
                  <a:srgbClr val="5F6468"/>
                </a:solidFill>
              </a:rPr>
              <a:t>Sleep Tight workflow | 2</a:t>
            </a:r>
          </a:p>
        </p:txBody>
      </p:sp>
    </p:spTree>
    <p:extLst>
      <p:ext uri="{BB962C8B-B14F-4D97-AF65-F5344CB8AC3E}">
        <p14:creationId xmlns:p14="http://schemas.microsoft.com/office/powerpoint/2010/main" val="13390611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47C5D-1229-4D1B-97CE-E4CABF22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FFF"/>
                </a:solidFill>
              </a:defRPr>
            </a:pPr>
            <a:r>
              <a:rPr sz="1050" b="1">
                <a:solidFill>
                  <a:srgbClr val="2B7FFF"/>
                </a:solidFill>
              </a:rPr>
              <a:t>DEVICE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7A8C7-FFB2-43AA-BC09-851F2201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The phone gives context; the watch gives the pre-bed signal.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A528E-E609-4C45-83A2-122E36D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468"/>
                </a:solidFill>
              </a:defRPr>
            </a:pPr>
            <a:r>
              <a:rPr sz="1725" b="0">
                <a:solidFill>
                  <a:srgbClr val="5F6468"/>
                </a:solidFill>
              </a:rPr>
              <a:t>Codex treats missing categories as missing data, not as values to infer.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3E773-03DD-4CA9-ACDE-45DC5C9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953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92EB1-F445-49D9-96B0-5B3A472B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</a:defRPr>
            </a:pPr>
            <a:r>
              <a:rPr sz="2100" b="1">
                <a:solidFill>
                  <a:srgbClr val="151515"/>
                </a:solidFill>
              </a:rPr>
              <a:t>Phone: Health Connect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B15CD-8A97-402F-8FB6-D529D4F1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Sleep sessions and stages</a:t>
            </a:r>
          </a:p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Heart rate and resting heart rate</a:t>
            </a:r>
          </a:p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Steps, exercise, calories</a:t>
            </a:r>
          </a:p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Oxygen, respiratory rate, skin temperature</a:t>
            </a:r>
          </a:p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Permissions and extraction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6B7C9-A3ED-406D-B3EF-AE0974B4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9530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3B4F4-6E76-44C0-9757-D2D7185B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481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</a:defRPr>
            </a:pPr>
            <a:r>
              <a:rPr sz="2100" b="1">
                <a:solidFill>
                  <a:srgbClr val="151515"/>
                </a:solidFill>
              </a:rPr>
              <a:t>Watch: 10-minute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2D1D2-A2C6-4F88-914F-BCCA9BA6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62450"/>
            <a:ext cx="409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Timestamped BPM samples</a:t>
            </a:r>
          </a:p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Sensor accuracy and device timestamps</a:t>
            </a:r>
          </a:p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Sequence numbers and correlation ID</a:t>
            </a:r>
          </a:p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Window start/end and sample count</a:t>
            </a:r>
          </a:p>
          <a:p xmlns:a="http://schemas.openxmlformats.org/drawingml/2006/main">
            <a:pPr algn="l">
              <a:defRPr sz="1425" b="0">
                <a:solidFill>
                  <a:srgbClr val="5F6468"/>
                </a:solidFill>
              </a:defRPr>
            </a:pPr>
            <a:r>
              <a:rPr sz="1425" b="0">
                <a:solidFill>
                  <a:srgbClr val="5F6468"/>
                </a:solidFill>
              </a:rPr>
              <a:t>Min, max, mean and median BPM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4A716-EB6C-4FAF-B0EC-0EA1BFC6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8"/>
                </a:solidFill>
              </a:defRPr>
            </a:pPr>
            <a:r>
              <a:rPr sz="1050" b="0">
                <a:solidFill>
                  <a:srgbClr val="5F6468"/>
                </a:solidFill>
              </a:rPr>
              <a:t>Sleep Tight workflow | 3</a:t>
            </a:r>
          </a:p>
        </p:txBody>
      </p:sp>
    </p:spTree>
    <p:extLst>
      <p:ext uri="{BB962C8B-B14F-4D97-AF65-F5344CB8AC3E}">
        <p14:creationId xmlns:p14="http://schemas.microsoft.com/office/powerpoint/2010/main" val="2136157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C83D2B-A225-4984-B039-B1869F17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FFF"/>
                </a:solidFill>
              </a:defRPr>
            </a:pPr>
            <a:r>
              <a:rPr sz="1050" b="1">
                <a:solidFill>
                  <a:srgbClr val="2B7FFF"/>
                </a:solidFill>
              </a:rPr>
              <a:t>GPT-5.6 SHIFT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3C6A7-8206-470F-90AA-5A285816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Research changed the agent from overnight control to pre-sleep personalization.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830C4-9EE8-45AC-83C0-A639CF32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468"/>
                </a:solidFill>
              </a:defRPr>
            </a:pPr>
            <a:r>
              <a:rPr sz="1725" b="0">
                <a:solidFill>
                  <a:srgbClr val="5F6468"/>
                </a:solidFill>
              </a:rPr>
              <a:t>The safer, more testable product is a bounded routine chosen just before bedtime.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F699C-8B50-4A02-A394-7F0A491A8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9570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2E5A7-5A77-4AD4-8C2F-E3B355DC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719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76AFA-FE89-45CF-8002-45F01C17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19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Original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4A03C0-96D7-416C-9243-F4FC0EDD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8"/>
                </a:solidFill>
              </a:defRPr>
            </a:pPr>
            <a:r>
              <a:rPr sz="1500" b="0">
                <a:solidFill>
                  <a:srgbClr val="5F6468"/>
                </a:solidFill>
              </a:rPr>
              <a:t>Run an agent overnight to subconsciously improve sleep.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2A1FC-DB13-41DD-A2A3-36DF3119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5ECCE-9F89-4B58-A174-7A1A766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51515"/>
                </a:solidFill>
              </a:defRPr>
            </a:pPr>
            <a:r>
              <a:rPr sz="975" b="1">
                <a:solidFill>
                  <a:srgbClr val="151515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BAE27-A839-4AA1-9C83-6DAC5AC1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100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Research finding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9C612F-C91B-4D43-A365-6AE47D3C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8"/>
                </a:solidFill>
              </a:defRPr>
            </a:pPr>
            <a:r>
              <a:rPr sz="1500" b="0">
                <a:solidFill>
                  <a:srgbClr val="5F6468"/>
                </a:solidFill>
              </a:rPr>
              <a:t>Best practical indicators are right before sleep and from completed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6275E-5804-4257-B535-E6B1AE7F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7680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F94D7-3B8A-437F-86F4-CA1FC301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F46999-CB57-47F3-BB8C-CFB4CB8A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00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Design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D616A5-3ED3-4488-AC90-F7D96653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196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8"/>
                </a:solidFill>
              </a:defRPr>
            </a:pPr>
            <a:r>
              <a:rPr sz="1500" b="0">
                <a:solidFill>
                  <a:srgbClr val="5F6468"/>
                </a:solidFill>
              </a:rPr>
              <a:t>Use the day’s vitals plus a final pre-bed heart-rate window.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693E0C-D15D-4742-916B-894FA907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67350"/>
            <a:ext cx="514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6830D-8F77-49DB-86E7-4782291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43550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43B3F-E0A5-4E4D-BBB0-8A01AEA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911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</a:defRPr>
            </a:pPr>
            <a:r>
              <a:rPr sz="1875" b="1">
                <a:solidFill>
                  <a:srgbClr val="151515"/>
                </a:solidFill>
              </a:rPr>
              <a:t>Implementation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5D3BAF-7550-4181-B8BB-F9D6694B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10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8"/>
                </a:solidFill>
              </a:defRPr>
            </a:pPr>
            <a:r>
              <a:rPr sz="1500" b="0">
                <a:solidFill>
                  <a:srgbClr val="5F6468"/>
                </a:solidFill>
              </a:rPr>
              <a:t>Build phone, watch and Mac apps; simulate lamp, sound and 30-day learning.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9F8817-D8A1-4BB9-B1F1-9B9C6C06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8"/>
                </a:solidFill>
              </a:defRPr>
            </a:pPr>
            <a:r>
              <a:rPr sz="1050" b="0">
                <a:solidFill>
                  <a:srgbClr val="5F6468"/>
                </a:solidFill>
              </a:rPr>
              <a:t>Sleep Tight workflow | 4</a:t>
            </a:r>
          </a:p>
        </p:txBody>
      </p:sp>
    </p:spTree>
    <p:extLst>
      <p:ext uri="{BB962C8B-B14F-4D97-AF65-F5344CB8AC3E}">
        <p14:creationId xmlns:p14="http://schemas.microsoft.com/office/powerpoint/2010/main" val="723076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789B7A-E6C9-45EC-971E-8F109076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FFF"/>
                </a:solidFill>
              </a:defRPr>
            </a:pPr>
            <a:r>
              <a:rPr sz="1050" b="1">
                <a:solidFill>
                  <a:srgbClr val="2B7FFF"/>
                </a:solidFill>
              </a:rPr>
              <a:t>ROOM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8FE24-000A-476F-8CDE-45716DB4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Codex turns the latest evidence into a conservative bedroom command.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6B0B4-4589-4CCC-BEA9-58E4075B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468"/>
                </a:solidFill>
              </a:defRPr>
            </a:pPr>
            <a:r>
              <a:rPr sz="1725" b="0">
                <a:solidFill>
                  <a:srgbClr val="5F6468"/>
                </a:solidFill>
              </a:rPr>
              <a:t>The command controls a simulated lamp and sound scene today; real hardware needs calibration.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2DC80-461E-4DCA-8CD8-4277BB42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FFB3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5232B-FBCE-403D-9235-2DDAD9D6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05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515"/>
                </a:solidFill>
              </a:defRPr>
            </a:pPr>
            <a:r>
              <a:rPr sz="2400" b="1">
                <a:solidFill>
                  <a:srgbClr val="151515"/>
                </a:solidFill>
              </a:rPr>
              <a:t>Lamp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CAB96-4CA4-4F34-8733-8304527D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Warm amber fade</a:t>
            </a:r>
          </a:p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32% to 0%</a:t>
            </a:r>
          </a:p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30 minutes</a:t>
            </a:r>
          </a:p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No HR-triggered spikes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97FF88-12E0-4517-8A25-FE944CBA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814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989557-3F79-4693-802B-64250B1D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05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515"/>
                </a:solidFill>
              </a:defRPr>
            </a:pPr>
            <a:r>
              <a:rPr sz="2400" b="1">
                <a:solidFill>
                  <a:srgbClr val="151515"/>
                </a:solidFill>
              </a:rPr>
              <a:t>Sound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71D63-CDA4-443F-8695-324FAA37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577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Low-arousal instrumental</a:t>
            </a:r>
          </a:p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64 BPM</a:t>
            </a:r>
          </a:p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16% to 0%</a:t>
            </a:r>
          </a:p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Stops at lights 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7C2A01-DEC1-4BF7-822D-A0C8C21A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81400"/>
            <a:ext cx="3143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1"/>
          </a:solidFill>
          <a:ln xmlns:a="http://schemas.openxmlformats.org/drawingml/2006/main" w="9525">
            <a:solidFill>
              <a:srgbClr val="4F9D6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4EDB2-0324-4B6C-8BD3-069FC7CC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51515"/>
                </a:solidFill>
              </a:defRPr>
            </a:pPr>
            <a:r>
              <a:rPr sz="2400" b="1">
                <a:solidFill>
                  <a:srgbClr val="151515"/>
                </a:solidFill>
              </a:rPr>
              <a:t>Sleep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93D09F-ED6C-4A00-9834-5BEB8A0F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577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Analyzed when available</a:t>
            </a:r>
          </a:p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Sleep sessions or scores</a:t>
            </a:r>
          </a:p>
          <a:p xmlns:a="http://schemas.openxmlformats.org/drawingml/2006/main">
            <a:pPr algn="l">
              <a:defRPr sz="1575" b="0">
                <a:solidFill>
                  <a:srgbClr val="5F6468"/>
                </a:solidFill>
              </a:defRPr>
            </a:pPr>
            <a:r>
              <a:rPr sz="1575" b="0">
                <a:solidFill>
                  <a:srgbClr val="5F6468"/>
                </a:solidFill>
              </a:rPr>
              <a:t>Morning ratings improve the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76A69D-16E0-461A-9111-C45B5AA6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8"/>
                </a:solidFill>
              </a:defRPr>
            </a:pPr>
            <a:r>
              <a:rPr sz="1050" b="0">
                <a:solidFill>
                  <a:srgbClr val="5F6468"/>
                </a:solidFill>
              </a:rPr>
              <a:t>Sleep Tight workflow | 5</a:t>
            </a:r>
          </a:p>
        </p:txBody>
      </p:sp>
    </p:spTree>
    <p:extLst>
      <p:ext uri="{BB962C8B-B14F-4D97-AF65-F5344CB8AC3E}">
        <p14:creationId xmlns:p14="http://schemas.microsoft.com/office/powerpoint/2010/main" val="157121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ABF689-FBB4-4FF1-A1D2-4A352581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7FFF"/>
                </a:solidFill>
              </a:defRPr>
            </a:pPr>
            <a:r>
              <a:rPr sz="1050" b="1">
                <a:solidFill>
                  <a:srgbClr val="2B7FFF"/>
                </a:solidFill>
              </a:rPr>
              <a:t>LEARNING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6508D-1628-43C8-BBED-994FE83A2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572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51515"/>
                </a:solidFill>
              </a:defRPr>
            </a:pPr>
            <a:r>
              <a:rPr sz="3900" b="1">
                <a:solidFill>
                  <a:srgbClr val="151515"/>
                </a:solidFill>
              </a:rPr>
              <a:t>Monthly logs make personalization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366F92-1D69-457F-B587-9EB667DE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468"/>
                </a:solidFill>
              </a:defRPr>
            </a:pPr>
            <a:r>
              <a:rPr sz="1725" b="0">
                <a:solidFill>
                  <a:srgbClr val="5F6468"/>
                </a:solidFill>
              </a:rPr>
              <a:t>The demo shows what Codex might learn after 30 nights, while keeping conclusions preliminary.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EE534-5578-4152-9C43-EE40ED5E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6762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A6FEF-773C-4A4A-9882-2BF3E062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15853"/>
            <a:ext cx="133350" cy="2466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4"/>
          </a:solidFill>
          <a:ln xmlns:a="http://schemas.openxmlformats.org/drawingml/2006/main" w="9525">
            <a:solidFill>
              <a:srgbClr val="DADAD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9EFBB-B224-43F6-AEE7-AB7A69F6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191" y="4810125"/>
            <a:ext cx="13335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4"/>
          </a:solidFill>
          <a:ln xmlns:a="http://schemas.openxmlformats.org/drawingml/2006/main" w="9525">
            <a:solidFill>
              <a:srgbClr val="DADA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1D222-AB92-44B7-AAF6-2530C996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683" y="4951095"/>
            <a:ext cx="133350" cy="2114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4"/>
          </a:solidFill>
          <a:ln xmlns:a="http://schemas.openxmlformats.org/drawingml/2006/main" w="9525">
            <a:solidFill>
              <a:srgbClr val="DADA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02544-E2E6-4E11-9B42-E57783E1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9174" y="4739640"/>
            <a:ext cx="133350" cy="4229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4"/>
          </a:solidFill>
          <a:ln xmlns:a="http://schemas.openxmlformats.org/drawingml/2006/main" w="9525">
            <a:solidFill>
              <a:srgbClr val="DADA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C8123-A66B-4D5B-B24B-7DC4A2C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666" y="4845368"/>
            <a:ext cx="133350" cy="3171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4"/>
          </a:solidFill>
          <a:ln xmlns:a="http://schemas.openxmlformats.org/drawingml/2006/main" w="9525">
            <a:solidFill>
              <a:srgbClr val="DADA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2AACB-F94F-46CE-BFB8-70BD8F4A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57" y="4774883"/>
            <a:ext cx="133350" cy="387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AD4"/>
          </a:solidFill>
          <a:ln xmlns:a="http://schemas.openxmlformats.org/drawingml/2006/main" w="9525">
            <a:solidFill>
              <a:srgbClr val="DADA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42A69-B1B8-46A6-9BE0-A2D708D6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48" y="4563428"/>
            <a:ext cx="133350" cy="5991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1B7BE-4B82-493A-81F1-FE30493F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140" y="4457700"/>
            <a:ext cx="133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7967E-6FDE-4C13-963F-31A5B47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631" y="4492943"/>
            <a:ext cx="133350" cy="669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E3E09-64FD-4955-BECC-AF81C7D0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122" y="4387215"/>
            <a:ext cx="133350" cy="775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D6000-C59C-48F3-BAA2-D93410C8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3614" y="4528185"/>
            <a:ext cx="133350" cy="6343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55CF4-78BF-4925-A360-FC137246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05" y="4422458"/>
            <a:ext cx="133350" cy="740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66B8FA-9374-4877-8139-F475AF72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597" y="4598670"/>
            <a:ext cx="133350" cy="563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582D4-63D6-4F90-98B4-3A5E5052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088" y="4492943"/>
            <a:ext cx="133350" cy="669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4212F0-F8AB-4BD5-B78B-CBF28CA2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579" y="4351973"/>
            <a:ext cx="133350" cy="810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8F10F8-8695-4117-88FD-9A2E743E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1071" y="4281488"/>
            <a:ext cx="133350" cy="8810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1B9318-838B-463E-9C17-E234CA60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562" y="4422458"/>
            <a:ext cx="133350" cy="7400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31F09-8D1F-4D70-BC0B-3491B844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8053" y="4246245"/>
            <a:ext cx="133350" cy="916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16039-9D9C-4D8C-A44B-700F7D57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545" y="4316730"/>
            <a:ext cx="133350" cy="845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9BDBF-2C0E-44E3-BA57-5EED50A3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036" y="4211003"/>
            <a:ext cx="133350" cy="951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B7561-41EF-45F4-B729-E5CCFD3A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8528" y="4351973"/>
            <a:ext cx="133350" cy="810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A16F94-D9D3-43A3-9A8D-6F7FC861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2019" y="4175760"/>
            <a:ext cx="133350" cy="9867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F86E6A-0EE9-4392-8C71-FC93E379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5510" y="4140518"/>
            <a:ext cx="133350" cy="10220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10FAD3-8FFC-4D57-A816-B0E65629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9002" y="4211003"/>
            <a:ext cx="133350" cy="9515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3F6C2-690E-4BC7-BC36-9078EC2E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2493" y="4105275"/>
            <a:ext cx="1333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CDBB64-105F-46E7-BAB1-19D49AAD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5984" y="4070033"/>
            <a:ext cx="133350" cy="10925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2AF2F-D76D-4B00-A2A4-0A05A5A9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476" y="4140518"/>
            <a:ext cx="133350" cy="10220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23D18C-CBE8-4842-A0AC-09A7737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2967" y="4034790"/>
            <a:ext cx="133350" cy="1127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08A8EA-7521-4BAB-8D59-78B98817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459" y="3999548"/>
            <a:ext cx="133350" cy="116300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720E66-326C-4946-A911-35D071DA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64305"/>
            <a:ext cx="133350" cy="11982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FFF"/>
          </a:solidFill>
          <a:ln xmlns:a="http://schemas.openxmlformats.org/drawingml/2006/main" w="9525">
            <a:solidFill>
              <a:srgbClr val="2B7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7307C0-2F22-4266-832C-34CE7DC9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468"/>
                </a:solidFill>
              </a:defRPr>
            </a:pPr>
            <a:r>
              <a:rPr sz="1500" b="1">
                <a:solidFill>
                  <a:srgbClr val="5F6468"/>
                </a:solidFill>
              </a:rPr>
              <a:t>Synthetic readiness trend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89EAEF-F03A-4F06-81E6-AD7CCBB7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29000"/>
            <a:ext cx="31623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EC"/>
          </a:solidFill>
          <a:ln xmlns:a="http://schemas.openxmlformats.org/drawingml/2006/main" w="9525">
            <a:solidFill>
              <a:srgbClr val="D8D8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D74F24-EF2F-4E9F-B3BE-1DE2A22D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528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1515"/>
                </a:solidFill>
              </a:defRPr>
            </a:pPr>
            <a:r>
              <a:rPr sz="2250" b="1">
                <a:solidFill>
                  <a:srgbClr val="151515"/>
                </a:solidFill>
              </a:rPr>
              <a:t>What Codex learnt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D43D9F-1BD6-47F8-AF9F-C81CDEB0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8"/>
                </a:solidFill>
              </a:defRPr>
            </a:pPr>
            <a:r>
              <a:rPr sz="1500" b="0">
                <a:solidFill>
                  <a:srgbClr val="5F6468"/>
                </a:solidFill>
              </a:rPr>
              <a:t>Keep the 30-minute amber fade.</a:t>
            </a:r>
          </a:p>
          <a:p xmlns:a="http://schemas.openxmlformats.org/drawingml/2006/main">
            <a:pPr algn="l">
              <a:defRPr sz="1500" b="0">
                <a:solidFill>
                  <a:srgbClr val="5F6468"/>
                </a:solidFill>
              </a:defRPr>
            </a:pPr>
            <a:r>
              <a:rPr sz="1500" b="0">
                <a:solidFill>
                  <a:srgbClr val="5F6468"/>
                </a:solidFill>
              </a:rPr>
              <a:t>Use music on tense days.</a:t>
            </a:r>
          </a:p>
          <a:p xmlns:a="http://schemas.openxmlformats.org/drawingml/2006/main">
            <a:pPr algn="l">
              <a:defRPr sz="1500" b="0">
                <a:solidFill>
                  <a:srgbClr val="5F6468"/>
                </a:solidFill>
              </a:defRPr>
            </a:pPr>
            <a:r>
              <a:rPr sz="1500" b="0">
                <a:solidFill>
                  <a:srgbClr val="5F6468"/>
                </a:solidFill>
              </a:rPr>
              <a:t>Make future nudges daytime-only.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2F8486-5DB0-44B7-9FB6-C852370B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468"/>
                </a:solidFill>
              </a:defRPr>
            </a:pPr>
            <a:r>
              <a:rPr sz="1050" b="0">
                <a:solidFill>
                  <a:srgbClr val="5F6468"/>
                </a:solidFill>
              </a:rPr>
              <a:t>Sleep Tight workflow | 6</a:t>
            </a:r>
          </a:p>
        </p:txBody>
      </p:sp>
    </p:spTree>
    <p:extLst>
      <p:ext uri="{BB962C8B-B14F-4D97-AF65-F5344CB8AC3E}">
        <p14:creationId xmlns:p14="http://schemas.microsoft.com/office/powerpoint/2010/main" val="16773113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2026-07-21T16:29:13.3540000Z</dcterms:created>
  <dcterms:modified xsi:type="dcterms:W3CDTF">2026-07-21T16:29:13.3540000Z</dcterms:modified>
</coreProperties>
</file>